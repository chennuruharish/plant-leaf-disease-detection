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DAE21-E51A-47B9-9B34-FC36860FB1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25A3CA5-2A82-45EB-914C-58450AF967C1}">
      <dgm:prSet/>
      <dgm:spPr/>
      <dgm:t>
        <a:bodyPr/>
        <a:lstStyle/>
        <a:p>
          <a:r>
            <a:rPr lang="en-US"/>
            <a:t>• Models: Custom CNN, VGG16, ResNet, InceptionV3.</a:t>
          </a:r>
        </a:p>
      </dgm:t>
    </dgm:pt>
    <dgm:pt modelId="{63BB85ED-0DF3-4BEE-BFF5-8554353F29A4}" type="parTrans" cxnId="{6C49E77B-6B48-4934-BC96-983A74FC5337}">
      <dgm:prSet/>
      <dgm:spPr/>
      <dgm:t>
        <a:bodyPr/>
        <a:lstStyle/>
        <a:p>
          <a:endParaRPr lang="en-US"/>
        </a:p>
      </dgm:t>
    </dgm:pt>
    <dgm:pt modelId="{45E8D95B-FEBF-460F-8ADF-F7D82DC0F3ED}" type="sibTrans" cxnId="{6C49E77B-6B48-4934-BC96-983A74FC5337}">
      <dgm:prSet/>
      <dgm:spPr/>
      <dgm:t>
        <a:bodyPr/>
        <a:lstStyle/>
        <a:p>
          <a:endParaRPr lang="en-US"/>
        </a:p>
      </dgm:t>
    </dgm:pt>
    <dgm:pt modelId="{1E2F43BF-1588-47EA-AE88-56F8DA06DEB3}">
      <dgm:prSet/>
      <dgm:spPr/>
      <dgm:t>
        <a:bodyPr/>
        <a:lstStyle/>
        <a:p>
          <a:r>
            <a:rPr lang="en-US"/>
            <a:t>• Training: Optimized with Adam optimizer, cross-entropy loss.</a:t>
          </a:r>
        </a:p>
      </dgm:t>
    </dgm:pt>
    <dgm:pt modelId="{CF3CB4A0-1B3D-4FA0-921E-CB55962F33A3}" type="parTrans" cxnId="{65C506DC-CB52-4D25-A2FD-FD3A10D7A451}">
      <dgm:prSet/>
      <dgm:spPr/>
      <dgm:t>
        <a:bodyPr/>
        <a:lstStyle/>
        <a:p>
          <a:endParaRPr lang="en-US"/>
        </a:p>
      </dgm:t>
    </dgm:pt>
    <dgm:pt modelId="{57AD2114-7F7E-48C5-907F-A1D4EFA2E296}" type="sibTrans" cxnId="{65C506DC-CB52-4D25-A2FD-FD3A10D7A451}">
      <dgm:prSet/>
      <dgm:spPr/>
      <dgm:t>
        <a:bodyPr/>
        <a:lstStyle/>
        <a:p>
          <a:endParaRPr lang="en-US"/>
        </a:p>
      </dgm:t>
    </dgm:pt>
    <dgm:pt modelId="{D04D4A76-4E2F-4532-B74F-D2457178370E}">
      <dgm:prSet/>
      <dgm:spPr/>
      <dgm:t>
        <a:bodyPr/>
        <a:lstStyle/>
        <a:p>
          <a:r>
            <a:rPr lang="en-US"/>
            <a:t>• Metrics: Accuracy, Precision, Recall, F1-score, Confusion Matrix.</a:t>
          </a:r>
        </a:p>
      </dgm:t>
    </dgm:pt>
    <dgm:pt modelId="{6FCD45E1-B14A-4324-99FB-BBF8722C9795}" type="parTrans" cxnId="{0FE6EA39-75FE-4123-A5D9-7CA21B0E45D1}">
      <dgm:prSet/>
      <dgm:spPr/>
      <dgm:t>
        <a:bodyPr/>
        <a:lstStyle/>
        <a:p>
          <a:endParaRPr lang="en-US"/>
        </a:p>
      </dgm:t>
    </dgm:pt>
    <dgm:pt modelId="{787AC1EA-0723-4088-B84B-52DBE7AC35A4}" type="sibTrans" cxnId="{0FE6EA39-75FE-4123-A5D9-7CA21B0E45D1}">
      <dgm:prSet/>
      <dgm:spPr/>
      <dgm:t>
        <a:bodyPr/>
        <a:lstStyle/>
        <a:p>
          <a:endParaRPr lang="en-US"/>
        </a:p>
      </dgm:t>
    </dgm:pt>
    <dgm:pt modelId="{905B85D9-1105-469B-93C1-1586BAA98B27}">
      <dgm:prSet/>
      <dgm:spPr/>
      <dgm:t>
        <a:bodyPr/>
        <a:lstStyle/>
        <a:p>
          <a:r>
            <a:rPr lang="en-US"/>
            <a:t>• Hyperparameter tuning using Grid Search.</a:t>
          </a:r>
        </a:p>
      </dgm:t>
    </dgm:pt>
    <dgm:pt modelId="{A0D8C77C-B4BF-4DFD-BBF3-D31D355EF71C}" type="parTrans" cxnId="{1C25CA62-05F7-473C-B37C-93DA1D37AE08}">
      <dgm:prSet/>
      <dgm:spPr/>
      <dgm:t>
        <a:bodyPr/>
        <a:lstStyle/>
        <a:p>
          <a:endParaRPr lang="en-US"/>
        </a:p>
      </dgm:t>
    </dgm:pt>
    <dgm:pt modelId="{8162F816-6F13-4704-8EAE-CA2723DD16B5}" type="sibTrans" cxnId="{1C25CA62-05F7-473C-B37C-93DA1D37AE08}">
      <dgm:prSet/>
      <dgm:spPr/>
      <dgm:t>
        <a:bodyPr/>
        <a:lstStyle/>
        <a:p>
          <a:endParaRPr lang="en-US"/>
        </a:p>
      </dgm:t>
    </dgm:pt>
    <dgm:pt modelId="{1916EECB-A717-426F-81E2-2112EFD00EB8}" type="pres">
      <dgm:prSet presAssocID="{5D9DAE21-E51A-47B9-9B34-FC36860FB1F3}" presName="root" presStyleCnt="0">
        <dgm:presLayoutVars>
          <dgm:dir/>
          <dgm:resizeHandles val="exact"/>
        </dgm:presLayoutVars>
      </dgm:prSet>
      <dgm:spPr/>
    </dgm:pt>
    <dgm:pt modelId="{21D6BBDB-D44D-40FA-9D5C-65151F58753A}" type="pres">
      <dgm:prSet presAssocID="{B25A3CA5-2A82-45EB-914C-58450AF967C1}" presName="compNode" presStyleCnt="0"/>
      <dgm:spPr/>
    </dgm:pt>
    <dgm:pt modelId="{FACBA5B0-20FD-4E93-B4A4-98143C36D987}" type="pres">
      <dgm:prSet presAssocID="{B25A3CA5-2A82-45EB-914C-58450AF967C1}" presName="bgRect" presStyleLbl="bgShp" presStyleIdx="0" presStyleCnt="4"/>
      <dgm:spPr/>
    </dgm:pt>
    <dgm:pt modelId="{9F3A1379-A6DB-4E81-91E5-D2A951833B20}" type="pres">
      <dgm:prSet presAssocID="{B25A3CA5-2A82-45EB-914C-58450AF967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0FAB5123-7C3B-489B-BAC3-26E505CE0E27}" type="pres">
      <dgm:prSet presAssocID="{B25A3CA5-2A82-45EB-914C-58450AF967C1}" presName="spaceRect" presStyleCnt="0"/>
      <dgm:spPr/>
    </dgm:pt>
    <dgm:pt modelId="{57A905E2-5D69-433B-97D8-503C0DA3BE61}" type="pres">
      <dgm:prSet presAssocID="{B25A3CA5-2A82-45EB-914C-58450AF967C1}" presName="parTx" presStyleLbl="revTx" presStyleIdx="0" presStyleCnt="4">
        <dgm:presLayoutVars>
          <dgm:chMax val="0"/>
          <dgm:chPref val="0"/>
        </dgm:presLayoutVars>
      </dgm:prSet>
      <dgm:spPr/>
    </dgm:pt>
    <dgm:pt modelId="{FB8F1AF2-FEF0-416B-B904-B24B2391984A}" type="pres">
      <dgm:prSet presAssocID="{45E8D95B-FEBF-460F-8ADF-F7D82DC0F3ED}" presName="sibTrans" presStyleCnt="0"/>
      <dgm:spPr/>
    </dgm:pt>
    <dgm:pt modelId="{40590A21-F245-443F-B501-C83FE55508FE}" type="pres">
      <dgm:prSet presAssocID="{1E2F43BF-1588-47EA-AE88-56F8DA06DEB3}" presName="compNode" presStyleCnt="0"/>
      <dgm:spPr/>
    </dgm:pt>
    <dgm:pt modelId="{5EB3EA62-582A-434E-979F-D8BF9C5D240B}" type="pres">
      <dgm:prSet presAssocID="{1E2F43BF-1588-47EA-AE88-56F8DA06DEB3}" presName="bgRect" presStyleLbl="bgShp" presStyleIdx="1" presStyleCnt="4"/>
      <dgm:spPr/>
    </dgm:pt>
    <dgm:pt modelId="{91B4D76C-E0B7-433E-80E0-D59D51415D40}" type="pres">
      <dgm:prSet presAssocID="{1E2F43BF-1588-47EA-AE88-56F8DA06DEB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7918AB0-5803-495B-A348-203E74916B3C}" type="pres">
      <dgm:prSet presAssocID="{1E2F43BF-1588-47EA-AE88-56F8DA06DEB3}" presName="spaceRect" presStyleCnt="0"/>
      <dgm:spPr/>
    </dgm:pt>
    <dgm:pt modelId="{AAA8352F-E22C-4B52-B520-25BFA772D5C4}" type="pres">
      <dgm:prSet presAssocID="{1E2F43BF-1588-47EA-AE88-56F8DA06DEB3}" presName="parTx" presStyleLbl="revTx" presStyleIdx="1" presStyleCnt="4">
        <dgm:presLayoutVars>
          <dgm:chMax val="0"/>
          <dgm:chPref val="0"/>
        </dgm:presLayoutVars>
      </dgm:prSet>
      <dgm:spPr/>
    </dgm:pt>
    <dgm:pt modelId="{86D15448-F927-4016-8A94-8509782287EB}" type="pres">
      <dgm:prSet presAssocID="{57AD2114-7F7E-48C5-907F-A1D4EFA2E296}" presName="sibTrans" presStyleCnt="0"/>
      <dgm:spPr/>
    </dgm:pt>
    <dgm:pt modelId="{44E11D23-64F1-45A9-A8D4-45482C1360BA}" type="pres">
      <dgm:prSet presAssocID="{D04D4A76-4E2F-4532-B74F-D2457178370E}" presName="compNode" presStyleCnt="0"/>
      <dgm:spPr/>
    </dgm:pt>
    <dgm:pt modelId="{73ECCD88-1656-45DF-97D6-D465CD99189A}" type="pres">
      <dgm:prSet presAssocID="{D04D4A76-4E2F-4532-B74F-D2457178370E}" presName="bgRect" presStyleLbl="bgShp" presStyleIdx="2" presStyleCnt="4"/>
      <dgm:spPr/>
    </dgm:pt>
    <dgm:pt modelId="{B1C0EDA4-6715-4AC7-990C-CE252EC21442}" type="pres">
      <dgm:prSet presAssocID="{D04D4A76-4E2F-4532-B74F-D2457178370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EDA04F3F-DEEB-4AAF-9247-1C56C1C2B5AA}" type="pres">
      <dgm:prSet presAssocID="{D04D4A76-4E2F-4532-B74F-D2457178370E}" presName="spaceRect" presStyleCnt="0"/>
      <dgm:spPr/>
    </dgm:pt>
    <dgm:pt modelId="{18D8474A-0B57-4625-8814-FF3D643F986B}" type="pres">
      <dgm:prSet presAssocID="{D04D4A76-4E2F-4532-B74F-D2457178370E}" presName="parTx" presStyleLbl="revTx" presStyleIdx="2" presStyleCnt="4">
        <dgm:presLayoutVars>
          <dgm:chMax val="0"/>
          <dgm:chPref val="0"/>
        </dgm:presLayoutVars>
      </dgm:prSet>
      <dgm:spPr/>
    </dgm:pt>
    <dgm:pt modelId="{28FDA5E6-3527-4E41-85A0-B751B65E5B5E}" type="pres">
      <dgm:prSet presAssocID="{787AC1EA-0723-4088-B84B-52DBE7AC35A4}" presName="sibTrans" presStyleCnt="0"/>
      <dgm:spPr/>
    </dgm:pt>
    <dgm:pt modelId="{D0B3CAE0-22B0-479A-8AF4-38D897829842}" type="pres">
      <dgm:prSet presAssocID="{905B85D9-1105-469B-93C1-1586BAA98B27}" presName="compNode" presStyleCnt="0"/>
      <dgm:spPr/>
    </dgm:pt>
    <dgm:pt modelId="{8B366F8C-993A-4957-A5EB-57F75CDFC49F}" type="pres">
      <dgm:prSet presAssocID="{905B85D9-1105-469B-93C1-1586BAA98B27}" presName="bgRect" presStyleLbl="bgShp" presStyleIdx="3" presStyleCnt="4"/>
      <dgm:spPr/>
    </dgm:pt>
    <dgm:pt modelId="{9AA40374-9599-4EB0-84AA-6DEEA90CA883}" type="pres">
      <dgm:prSet presAssocID="{905B85D9-1105-469B-93C1-1586BAA98B2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68EC0D7E-C308-4158-9DD6-26C057CDC409}" type="pres">
      <dgm:prSet presAssocID="{905B85D9-1105-469B-93C1-1586BAA98B27}" presName="spaceRect" presStyleCnt="0"/>
      <dgm:spPr/>
    </dgm:pt>
    <dgm:pt modelId="{AF07C193-B9DD-4A31-90EA-2B7613A3E10F}" type="pres">
      <dgm:prSet presAssocID="{905B85D9-1105-469B-93C1-1586BAA98B2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7EF0611-37C1-4A2D-9118-7F52BFABE1C2}" type="presOf" srcId="{B25A3CA5-2A82-45EB-914C-58450AF967C1}" destId="{57A905E2-5D69-433B-97D8-503C0DA3BE61}" srcOrd="0" destOrd="0" presId="urn:microsoft.com/office/officeart/2018/2/layout/IconVerticalSolidList"/>
    <dgm:cxn modelId="{84C1082D-049F-4C14-B70F-47EE34F983C5}" type="presOf" srcId="{905B85D9-1105-469B-93C1-1586BAA98B27}" destId="{AF07C193-B9DD-4A31-90EA-2B7613A3E10F}" srcOrd="0" destOrd="0" presId="urn:microsoft.com/office/officeart/2018/2/layout/IconVerticalSolidList"/>
    <dgm:cxn modelId="{0FE6EA39-75FE-4123-A5D9-7CA21B0E45D1}" srcId="{5D9DAE21-E51A-47B9-9B34-FC36860FB1F3}" destId="{D04D4A76-4E2F-4532-B74F-D2457178370E}" srcOrd="2" destOrd="0" parTransId="{6FCD45E1-B14A-4324-99FB-BBF8722C9795}" sibTransId="{787AC1EA-0723-4088-B84B-52DBE7AC35A4}"/>
    <dgm:cxn modelId="{1C25CA62-05F7-473C-B37C-93DA1D37AE08}" srcId="{5D9DAE21-E51A-47B9-9B34-FC36860FB1F3}" destId="{905B85D9-1105-469B-93C1-1586BAA98B27}" srcOrd="3" destOrd="0" parTransId="{A0D8C77C-B4BF-4DFD-BBF3-D31D355EF71C}" sibTransId="{8162F816-6F13-4704-8EAE-CA2723DD16B5}"/>
    <dgm:cxn modelId="{A64C4056-3982-49A7-B05B-BE9C6AA7C529}" type="presOf" srcId="{1E2F43BF-1588-47EA-AE88-56F8DA06DEB3}" destId="{AAA8352F-E22C-4B52-B520-25BFA772D5C4}" srcOrd="0" destOrd="0" presId="urn:microsoft.com/office/officeart/2018/2/layout/IconVerticalSolidList"/>
    <dgm:cxn modelId="{6C49E77B-6B48-4934-BC96-983A74FC5337}" srcId="{5D9DAE21-E51A-47B9-9B34-FC36860FB1F3}" destId="{B25A3CA5-2A82-45EB-914C-58450AF967C1}" srcOrd="0" destOrd="0" parTransId="{63BB85ED-0DF3-4BEE-BFF5-8554353F29A4}" sibTransId="{45E8D95B-FEBF-460F-8ADF-F7D82DC0F3ED}"/>
    <dgm:cxn modelId="{B8C042C5-98DD-43F7-B1FA-7518911DAA16}" type="presOf" srcId="{5D9DAE21-E51A-47B9-9B34-FC36860FB1F3}" destId="{1916EECB-A717-426F-81E2-2112EFD00EB8}" srcOrd="0" destOrd="0" presId="urn:microsoft.com/office/officeart/2018/2/layout/IconVerticalSolidList"/>
    <dgm:cxn modelId="{65C506DC-CB52-4D25-A2FD-FD3A10D7A451}" srcId="{5D9DAE21-E51A-47B9-9B34-FC36860FB1F3}" destId="{1E2F43BF-1588-47EA-AE88-56F8DA06DEB3}" srcOrd="1" destOrd="0" parTransId="{CF3CB4A0-1B3D-4FA0-921E-CB55962F33A3}" sibTransId="{57AD2114-7F7E-48C5-907F-A1D4EFA2E296}"/>
    <dgm:cxn modelId="{B9C16DF1-94D6-4542-B830-E6211B838E48}" type="presOf" srcId="{D04D4A76-4E2F-4532-B74F-D2457178370E}" destId="{18D8474A-0B57-4625-8814-FF3D643F986B}" srcOrd="0" destOrd="0" presId="urn:microsoft.com/office/officeart/2018/2/layout/IconVerticalSolidList"/>
    <dgm:cxn modelId="{CAC91FB1-A5C3-425E-91AD-1A61EA8500DD}" type="presParOf" srcId="{1916EECB-A717-426F-81E2-2112EFD00EB8}" destId="{21D6BBDB-D44D-40FA-9D5C-65151F58753A}" srcOrd="0" destOrd="0" presId="urn:microsoft.com/office/officeart/2018/2/layout/IconVerticalSolidList"/>
    <dgm:cxn modelId="{59C8DFFC-ECFD-48AA-A819-92708793B20D}" type="presParOf" srcId="{21D6BBDB-D44D-40FA-9D5C-65151F58753A}" destId="{FACBA5B0-20FD-4E93-B4A4-98143C36D987}" srcOrd="0" destOrd="0" presId="urn:microsoft.com/office/officeart/2018/2/layout/IconVerticalSolidList"/>
    <dgm:cxn modelId="{9258D431-4D89-4AE2-B060-BCC9FB6B0ED1}" type="presParOf" srcId="{21D6BBDB-D44D-40FA-9D5C-65151F58753A}" destId="{9F3A1379-A6DB-4E81-91E5-D2A951833B20}" srcOrd="1" destOrd="0" presId="urn:microsoft.com/office/officeart/2018/2/layout/IconVerticalSolidList"/>
    <dgm:cxn modelId="{5DD9C4BD-A7C3-463B-A1BA-115F30985D34}" type="presParOf" srcId="{21D6BBDB-D44D-40FA-9D5C-65151F58753A}" destId="{0FAB5123-7C3B-489B-BAC3-26E505CE0E27}" srcOrd="2" destOrd="0" presId="urn:microsoft.com/office/officeart/2018/2/layout/IconVerticalSolidList"/>
    <dgm:cxn modelId="{D3F6933B-48F0-4CA5-808F-70F229EFB22B}" type="presParOf" srcId="{21D6BBDB-D44D-40FA-9D5C-65151F58753A}" destId="{57A905E2-5D69-433B-97D8-503C0DA3BE61}" srcOrd="3" destOrd="0" presId="urn:microsoft.com/office/officeart/2018/2/layout/IconVerticalSolidList"/>
    <dgm:cxn modelId="{2EB4ACD8-D013-4FDE-9C39-A58FFB4E372B}" type="presParOf" srcId="{1916EECB-A717-426F-81E2-2112EFD00EB8}" destId="{FB8F1AF2-FEF0-416B-B904-B24B2391984A}" srcOrd="1" destOrd="0" presId="urn:microsoft.com/office/officeart/2018/2/layout/IconVerticalSolidList"/>
    <dgm:cxn modelId="{2E96AF42-0D87-4892-B5C6-E5A72EC58D76}" type="presParOf" srcId="{1916EECB-A717-426F-81E2-2112EFD00EB8}" destId="{40590A21-F245-443F-B501-C83FE55508FE}" srcOrd="2" destOrd="0" presId="urn:microsoft.com/office/officeart/2018/2/layout/IconVerticalSolidList"/>
    <dgm:cxn modelId="{08FDA6D2-9997-4A8D-B502-87A3090AB931}" type="presParOf" srcId="{40590A21-F245-443F-B501-C83FE55508FE}" destId="{5EB3EA62-582A-434E-979F-D8BF9C5D240B}" srcOrd="0" destOrd="0" presId="urn:microsoft.com/office/officeart/2018/2/layout/IconVerticalSolidList"/>
    <dgm:cxn modelId="{9613D44D-5870-48E4-8DB6-AD568F7D12FA}" type="presParOf" srcId="{40590A21-F245-443F-B501-C83FE55508FE}" destId="{91B4D76C-E0B7-433E-80E0-D59D51415D40}" srcOrd="1" destOrd="0" presId="urn:microsoft.com/office/officeart/2018/2/layout/IconVerticalSolidList"/>
    <dgm:cxn modelId="{6CBBE52F-E69C-44AE-8C46-CCBA9C0765B9}" type="presParOf" srcId="{40590A21-F245-443F-B501-C83FE55508FE}" destId="{A7918AB0-5803-495B-A348-203E74916B3C}" srcOrd="2" destOrd="0" presId="urn:microsoft.com/office/officeart/2018/2/layout/IconVerticalSolidList"/>
    <dgm:cxn modelId="{D61D83AA-7FFE-4F60-B4E9-3F428F6EDF34}" type="presParOf" srcId="{40590A21-F245-443F-B501-C83FE55508FE}" destId="{AAA8352F-E22C-4B52-B520-25BFA772D5C4}" srcOrd="3" destOrd="0" presId="urn:microsoft.com/office/officeart/2018/2/layout/IconVerticalSolidList"/>
    <dgm:cxn modelId="{6A79B8BF-8441-4EF7-B25C-23B9E9EC0FB5}" type="presParOf" srcId="{1916EECB-A717-426F-81E2-2112EFD00EB8}" destId="{86D15448-F927-4016-8A94-8509782287EB}" srcOrd="3" destOrd="0" presId="urn:microsoft.com/office/officeart/2018/2/layout/IconVerticalSolidList"/>
    <dgm:cxn modelId="{CCE0F6F3-985A-4B84-81C0-EF6C640D6F3E}" type="presParOf" srcId="{1916EECB-A717-426F-81E2-2112EFD00EB8}" destId="{44E11D23-64F1-45A9-A8D4-45482C1360BA}" srcOrd="4" destOrd="0" presId="urn:microsoft.com/office/officeart/2018/2/layout/IconVerticalSolidList"/>
    <dgm:cxn modelId="{FE5C3E7A-E57D-406B-A0BE-DAE2F08E97B1}" type="presParOf" srcId="{44E11D23-64F1-45A9-A8D4-45482C1360BA}" destId="{73ECCD88-1656-45DF-97D6-D465CD99189A}" srcOrd="0" destOrd="0" presId="urn:microsoft.com/office/officeart/2018/2/layout/IconVerticalSolidList"/>
    <dgm:cxn modelId="{93875DB3-3397-46A4-8400-BEABDEEE2820}" type="presParOf" srcId="{44E11D23-64F1-45A9-A8D4-45482C1360BA}" destId="{B1C0EDA4-6715-4AC7-990C-CE252EC21442}" srcOrd="1" destOrd="0" presId="urn:microsoft.com/office/officeart/2018/2/layout/IconVerticalSolidList"/>
    <dgm:cxn modelId="{4255550D-7185-43FB-99A9-44B097878944}" type="presParOf" srcId="{44E11D23-64F1-45A9-A8D4-45482C1360BA}" destId="{EDA04F3F-DEEB-4AAF-9247-1C56C1C2B5AA}" srcOrd="2" destOrd="0" presId="urn:microsoft.com/office/officeart/2018/2/layout/IconVerticalSolidList"/>
    <dgm:cxn modelId="{6744C225-E5B8-4023-B25F-5A892ADD1B04}" type="presParOf" srcId="{44E11D23-64F1-45A9-A8D4-45482C1360BA}" destId="{18D8474A-0B57-4625-8814-FF3D643F986B}" srcOrd="3" destOrd="0" presId="urn:microsoft.com/office/officeart/2018/2/layout/IconVerticalSolidList"/>
    <dgm:cxn modelId="{E7ABF248-993E-43E6-9DB8-25B428C7D2C1}" type="presParOf" srcId="{1916EECB-A717-426F-81E2-2112EFD00EB8}" destId="{28FDA5E6-3527-4E41-85A0-B751B65E5B5E}" srcOrd="5" destOrd="0" presId="urn:microsoft.com/office/officeart/2018/2/layout/IconVerticalSolidList"/>
    <dgm:cxn modelId="{E48602EC-D7FB-4EFE-B081-102774B17366}" type="presParOf" srcId="{1916EECB-A717-426F-81E2-2112EFD00EB8}" destId="{D0B3CAE0-22B0-479A-8AF4-38D897829842}" srcOrd="6" destOrd="0" presId="urn:microsoft.com/office/officeart/2018/2/layout/IconVerticalSolidList"/>
    <dgm:cxn modelId="{D747C2CB-E53E-4498-B288-D8227CC35371}" type="presParOf" srcId="{D0B3CAE0-22B0-479A-8AF4-38D897829842}" destId="{8B366F8C-993A-4957-A5EB-57F75CDFC49F}" srcOrd="0" destOrd="0" presId="urn:microsoft.com/office/officeart/2018/2/layout/IconVerticalSolidList"/>
    <dgm:cxn modelId="{9E32A608-5B5E-4B43-A6F4-3CB0F36D6E4B}" type="presParOf" srcId="{D0B3CAE0-22B0-479A-8AF4-38D897829842}" destId="{9AA40374-9599-4EB0-84AA-6DEEA90CA883}" srcOrd="1" destOrd="0" presId="urn:microsoft.com/office/officeart/2018/2/layout/IconVerticalSolidList"/>
    <dgm:cxn modelId="{D2B9D751-A751-4086-8141-9C60D13E30C4}" type="presParOf" srcId="{D0B3CAE0-22B0-479A-8AF4-38D897829842}" destId="{68EC0D7E-C308-4158-9DD6-26C057CDC409}" srcOrd="2" destOrd="0" presId="urn:microsoft.com/office/officeart/2018/2/layout/IconVerticalSolidList"/>
    <dgm:cxn modelId="{A02DA63E-AF90-4955-B66C-B922A63F6867}" type="presParOf" srcId="{D0B3CAE0-22B0-479A-8AF4-38D897829842}" destId="{AF07C193-B9DD-4A31-90EA-2B7613A3E1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CBA5B0-20FD-4E93-B4A4-98143C36D987}">
      <dsp:nvSpPr>
        <dsp:cNvPr id="0" name=""/>
        <dsp:cNvSpPr/>
      </dsp:nvSpPr>
      <dsp:spPr>
        <a:xfrm>
          <a:off x="0" y="1698"/>
          <a:ext cx="7213600" cy="8610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A1379-A6DB-4E81-91E5-D2A951833B20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905E2-5D69-433B-97D8-503C0DA3BE61}">
      <dsp:nvSpPr>
        <dsp:cNvPr id="0" name=""/>
        <dsp:cNvSpPr/>
      </dsp:nvSpPr>
      <dsp:spPr>
        <a:xfrm>
          <a:off x="994536" y="1698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Models: Custom CNN, VGG16, ResNet, InceptionV3.</a:t>
          </a:r>
        </a:p>
      </dsp:txBody>
      <dsp:txXfrm>
        <a:off x="994536" y="1698"/>
        <a:ext cx="6219063" cy="861070"/>
      </dsp:txXfrm>
    </dsp:sp>
    <dsp:sp modelId="{5EB3EA62-582A-434E-979F-D8BF9C5D240B}">
      <dsp:nvSpPr>
        <dsp:cNvPr id="0" name=""/>
        <dsp:cNvSpPr/>
      </dsp:nvSpPr>
      <dsp:spPr>
        <a:xfrm>
          <a:off x="0" y="1078036"/>
          <a:ext cx="7213600" cy="8610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4D76C-E0B7-433E-80E0-D59D51415D40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8352F-E22C-4B52-B520-25BFA772D5C4}">
      <dsp:nvSpPr>
        <dsp:cNvPr id="0" name=""/>
        <dsp:cNvSpPr/>
      </dsp:nvSpPr>
      <dsp:spPr>
        <a:xfrm>
          <a:off x="994536" y="1078036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Training: Optimized with Adam optimizer, cross-entropy loss.</a:t>
          </a:r>
        </a:p>
      </dsp:txBody>
      <dsp:txXfrm>
        <a:off x="994536" y="1078036"/>
        <a:ext cx="6219063" cy="861070"/>
      </dsp:txXfrm>
    </dsp:sp>
    <dsp:sp modelId="{73ECCD88-1656-45DF-97D6-D465CD99189A}">
      <dsp:nvSpPr>
        <dsp:cNvPr id="0" name=""/>
        <dsp:cNvSpPr/>
      </dsp:nvSpPr>
      <dsp:spPr>
        <a:xfrm>
          <a:off x="0" y="2154374"/>
          <a:ext cx="7213600" cy="8610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0EDA4-6715-4AC7-990C-CE252EC21442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8474A-0B57-4625-8814-FF3D643F986B}">
      <dsp:nvSpPr>
        <dsp:cNvPr id="0" name=""/>
        <dsp:cNvSpPr/>
      </dsp:nvSpPr>
      <dsp:spPr>
        <a:xfrm>
          <a:off x="994536" y="2154374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Metrics: Accuracy, Precision, Recall, F1-score, Confusion Matrix.</a:t>
          </a:r>
        </a:p>
      </dsp:txBody>
      <dsp:txXfrm>
        <a:off x="994536" y="2154374"/>
        <a:ext cx="6219063" cy="861070"/>
      </dsp:txXfrm>
    </dsp:sp>
    <dsp:sp modelId="{8B366F8C-993A-4957-A5EB-57F75CDFC49F}">
      <dsp:nvSpPr>
        <dsp:cNvPr id="0" name=""/>
        <dsp:cNvSpPr/>
      </dsp:nvSpPr>
      <dsp:spPr>
        <a:xfrm>
          <a:off x="0" y="3230712"/>
          <a:ext cx="7213600" cy="8610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A40374-9599-4EB0-84AA-6DEEA90CA883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07C193-B9DD-4A31-90EA-2B7613A3E10F}">
      <dsp:nvSpPr>
        <dsp:cNvPr id="0" name=""/>
        <dsp:cNvSpPr/>
      </dsp:nvSpPr>
      <dsp:spPr>
        <a:xfrm>
          <a:off x="994536" y="3230712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Hyperparameter tuning using Grid Search.</a:t>
          </a:r>
        </a:p>
      </dsp:txBody>
      <dsp:txXfrm>
        <a:off x="994536" y="3230712"/>
        <a:ext cx="6219063" cy="861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0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5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3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8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2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5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2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0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5997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63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8024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68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99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7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00422" y="-8468"/>
            <a:ext cx="3572669" cy="6866467"/>
            <a:chOff x="67175" y="-8467"/>
            <a:chExt cx="4763558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1" y="1282701"/>
            <a:ext cx="3822045" cy="4307148"/>
          </a:xfrm>
        </p:spPr>
        <p:txBody>
          <a:bodyPr anchor="ctr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Detection Using CNNs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2372" y="-8468"/>
            <a:ext cx="3806198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65840" y="2510119"/>
            <a:ext cx="2701925" cy="1829292"/>
          </a:xfrm>
        </p:spPr>
        <p:txBody>
          <a:bodyPr anchor="ctr">
            <a:normAutofit/>
          </a:bodyPr>
          <a:lstStyle/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Plant diseases cause 20-40% of global crop losses annually.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detection methods are slow and require expert knowledge.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CNNs offer a fast, accurate, and scalable solution.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Helping farmers detect diseases early can improve food security.</a:t>
            </a:r>
          </a:p>
        </p:txBody>
      </p:sp>
      <p:pic>
        <p:nvPicPr>
          <p:cNvPr id="18" name="Picture 17" descr="Cropped hand watering the plant">
            <a:extLst>
              <a:ext uri="{FF2B5EF4-FFF2-40B4-BE49-F238E27FC236}">
                <a16:creationId xmlns:a16="http://schemas.microsoft.com/office/drawing/2014/main" id="{33C227EE-BFF7-D2A9-5FEF-0EC429A2E0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29" r="12621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z="3500" dirty="0"/>
              <a:t>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What are the most effective CNN architectures for plant disease detection?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How does data augmentation improve model performance?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What impact does transfer learning have on accuracy and training time?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How well does the model generalize to unseen plant species?</a:t>
            </a:r>
          </a:p>
        </p:txBody>
      </p:sp>
      <p:pic>
        <p:nvPicPr>
          <p:cNvPr id="18" name="Picture 17" descr="Small tree">
            <a:extLst>
              <a:ext uri="{FF2B5EF4-FFF2-40B4-BE49-F238E27FC236}">
                <a16:creationId xmlns:a16="http://schemas.microsoft.com/office/drawing/2014/main" id="{341FC7AE-CBB2-983F-E3E4-0C1FD4A7D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89" r="37061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This Project Helps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Farmers can use mobile apps to scan leaves and detect diseases.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intervention reduces crop losses and increases yield.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Cost-effective alternative to traditional disease detection methods.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for integration with precision agriculture technologies</a:t>
            </a:r>
            <a:r>
              <a:rPr lang="en-US" sz="1700" dirty="0"/>
              <a:t>.</a:t>
            </a:r>
          </a:p>
        </p:txBody>
      </p:sp>
      <p:pic>
        <p:nvPicPr>
          <p:cNvPr id="18" name="Picture 17" descr="Green and dry land">
            <a:extLst>
              <a:ext uri="{FF2B5EF4-FFF2-40B4-BE49-F238E27FC236}">
                <a16:creationId xmlns:a16="http://schemas.microsoft.com/office/drawing/2014/main" id="{3BA78F96-7F5B-235B-988C-C9B020DE8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86" r="37545" b="1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6057901" cy="103366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Dataset &amp; Preprocessing</a:t>
            </a:r>
            <a:r>
              <a:rPr lang="en-US" sz="3500" dirty="0">
                <a:solidFill>
                  <a:srgbClr val="FFFFFF"/>
                </a:solidFill>
              </a:rPr>
              <a:t>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Dataset: Plant Village with 54,305 labeled images.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Mohith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Singh 1804, 3 years ago.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Preprocessing: Resize, normalize, and apply data augmentation (rotation, flipping, zooming).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Splitting: 70% Training, 15% Validation, 15% Test.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Example Diseases: Powdery Mildew, Rust, Mosaic Virus, Apple cedar is healthy.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Evaluation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54F41A-6EB5-B8CD-ADF8-62A8FF68D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611098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76" y="4553712"/>
            <a:ext cx="6216024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Example CNN Predictions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BDE44-4F98-37EF-7A35-42800C1EC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76" y="1498622"/>
            <a:ext cx="6216024" cy="2735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76" y="4553712"/>
            <a:ext cx="6216024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Project Timeline (Gantt Chart)</a:t>
            </a:r>
          </a:p>
        </p:txBody>
      </p:sp>
      <p:pic>
        <p:nvPicPr>
          <p:cNvPr id="5" name="Picture 4" descr="A graph showing a number of different colored bars&#10;&#10;Description automatically generated">
            <a:extLst>
              <a:ext uri="{FF2B5EF4-FFF2-40B4-BE49-F238E27FC236}">
                <a16:creationId xmlns:a16="http://schemas.microsoft.com/office/drawing/2014/main" id="{CDFD9A7B-482A-6DFA-8617-3DC53A42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76" y="1016880"/>
            <a:ext cx="6216024" cy="3216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497" y="1361661"/>
            <a:ext cx="4840356" cy="83488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Ethical </a:t>
            </a:r>
            <a:r>
              <a:rPr lang="en-US" sz="4000" dirty="0" err="1"/>
              <a:t>Considerations</a:t>
            </a:r>
            <a:r>
              <a:rPr lang="en-US" sz="35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dera</a:t>
            </a:r>
            <a:endParaRPr lang="en-US" sz="3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Privacy: Ensures dataset contains no sensitive information.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Bias: Addressing class imbalance for fair predictions.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Transparency: Clear communication of model limitations.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Compliance: Meets GDPR and ethical research standards.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131" y="695738"/>
            <a:ext cx="5128592" cy="1113183"/>
          </a:xfrm>
        </p:spPr>
        <p:txBody>
          <a:bodyPr>
            <a:normAutofit/>
          </a:bodyPr>
          <a:lstStyle/>
          <a:p>
            <a:r>
              <a:rPr lang="en-US" sz="4000" dirty="0"/>
              <a:t>GitHub &amp; Resources</a:t>
            </a:r>
            <a:endParaRPr lang="en-US" sz="3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318197"/>
            <a:ext cx="6117536" cy="3683358"/>
          </a:xfrm>
        </p:spPr>
        <p:txBody>
          <a:bodyPr anchor="ctr"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Dataset: https://www.kaggle.com/datasets/plantvillage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Research Papers &amp; References.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Contact &amp; Future Collaboration Opportunities.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957" y="294538"/>
            <a:ext cx="5218043" cy="1033669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Conclusion &amp;  Future Work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a CNN model for plant disease detection.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Demonstrated effectiveness using real-world data.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Work: Expand dataset, deploy mobile app, enhance interpretability.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Open to collaborations for further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399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Trebuchet MS</vt:lpstr>
      <vt:lpstr>Wingdings 3</vt:lpstr>
      <vt:lpstr>Facet</vt:lpstr>
      <vt:lpstr>Plant Disease Detection Using CNNs</vt:lpstr>
      <vt:lpstr>Why This Project?</vt:lpstr>
      <vt:lpstr>Research Questions</vt:lpstr>
      <vt:lpstr>How This Project Helps Agriculture</vt:lpstr>
      <vt:lpstr>Dataset &amp; Preprocessing Preprocessing</vt:lpstr>
      <vt:lpstr>Model Training &amp; Evaluation</vt:lpstr>
      <vt:lpstr>Example CNN Predictions</vt:lpstr>
      <vt:lpstr>Project Timeline (Gantt Chart)</vt:lpstr>
      <vt:lpstr>Ethical Considerationsdera</vt:lpstr>
      <vt:lpstr>GitHub &amp; Resources</vt:lpstr>
      <vt:lpstr>Conclusion &amp;  Future Work.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NAVANE C</dc:creator>
  <cp:keywords/>
  <dc:description>generated using python-pptx</dc:description>
  <cp:lastModifiedBy>HARISH CHENNURU</cp:lastModifiedBy>
  <cp:revision>4</cp:revision>
  <dcterms:created xsi:type="dcterms:W3CDTF">2013-01-27T09:14:16Z</dcterms:created>
  <dcterms:modified xsi:type="dcterms:W3CDTF">2025-05-13T20:24:08Z</dcterms:modified>
  <cp:category/>
</cp:coreProperties>
</file>